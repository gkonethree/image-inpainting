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f75046804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f75046804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f7504680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f7504680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f7504680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f7504680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4f75046804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4f7504680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4f75046804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4f75046804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4f75046804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4f75046804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4f7504680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4f7504680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f75046804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f7504680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4f75046804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4f75046804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f75046804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f75046804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f7504680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4f7504680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4f7504680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4f7504680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f75046804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4f75046804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4f75046804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4f75046804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4f75046804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4f75046804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f75046804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f75046804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4f75046804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4f75046804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4f7504680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4f7504680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kaggle.com/datasets/gauravkum13/celeba2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arxiv.org/abs/1804.0772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121500"/>
            <a:ext cx="8222100" cy="138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Image Inpainting using Partial Convolutions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3045228"/>
            <a:ext cx="8222100" cy="6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Gaurav Kumar(23B0989)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Mrunal Vairagade(23B1031)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4" title="s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00" y="451975"/>
            <a:ext cx="8040474" cy="4050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Overview of  Method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/>
              <a:t>Use partial convolution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/>
              <a:t>Make a U-Net like architecture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/>
              <a:t>Use L1 loss, TV loss and feature-matching loss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Partial Convolution Layer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 convolutional layers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treat all pixels equally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including those inside holes (i.e., masked or missing pixels). This leads to artifacts because the network tries to learn from </a:t>
            </a:r>
            <a:r>
              <a:rPr b="1"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invalid/missing data</a:t>
            </a: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So, let’s define partial convolution as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Now we define the updated binary mask as: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6" title="Screenshot 2025-04-23 at 9.44.5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3625" y="2028600"/>
            <a:ext cx="6942100" cy="906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 txBox="1"/>
          <p:nvPr/>
        </p:nvSpPr>
        <p:spPr>
          <a:xfrm>
            <a:off x="500475" y="2251038"/>
            <a:ext cx="492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" name="Google Shape;108;p16" title="Screenshot 2025-04-23 at 9.45.0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2325" y="3176125"/>
            <a:ext cx="3162101" cy="10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 txBox="1"/>
          <p:nvPr/>
        </p:nvSpPr>
        <p:spPr>
          <a:xfrm>
            <a:off x="540575" y="4224700"/>
            <a:ext cx="625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2A2A2A"/>
                </a:solidFill>
                <a:latin typeface="Roboto"/>
                <a:ea typeface="Roboto"/>
                <a:cs typeface="Roboto"/>
                <a:sym typeface="Roboto"/>
              </a:rPr>
              <a:t>When we perform more and more partial convolutions, the binary mask will be eventually updated to have all ones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Loss Functions</a:t>
            </a:r>
            <a:endParaRPr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311700" y="1804150"/>
            <a:ext cx="8520600" cy="27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M is the Mask, Igt is ground truth image and Iout is image with mask (corrupted image)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This is just L1 per pixel loss for valid and invalid pixels seperately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407925" y="1121775"/>
            <a:ext cx="6303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L1 Loss (per-pixel loss)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" name="Google Shape;117;p17" title="Screenshot 2025-04-23 at 6.22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41813"/>
            <a:ext cx="8017451" cy="7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 title="Screenshot 2025-04-23 at 6.22.2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686375"/>
            <a:ext cx="7342325" cy="5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Loss Functions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311700" y="1804150"/>
            <a:ext cx="8520600" cy="27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Icomp is Iout with non hole pixels directly set to ground truth pixels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600"/>
              <a:t>This is a feature matching L1 loss between Iout and Igt and Icomp and Igt using the pretrained VGG16 feature extractor.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600"/>
              <a:t>This is small when output is semantically close to ground truth</a:t>
            </a:r>
            <a:endParaRPr sz="1600"/>
          </a:p>
        </p:txBody>
      </p:sp>
      <p:sp>
        <p:nvSpPr>
          <p:cNvPr id="125" name="Google Shape;125;p18"/>
          <p:cNvSpPr txBox="1"/>
          <p:nvPr/>
        </p:nvSpPr>
        <p:spPr>
          <a:xfrm>
            <a:off x="407925" y="1121775"/>
            <a:ext cx="6303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Perceptual Loss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" name="Google Shape;126;p18" title="Screenshot 2025-04-23 at 6.47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2700" y="1679776"/>
            <a:ext cx="9144002" cy="138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Loss Functions</a:t>
            </a:r>
            <a:endParaRPr/>
          </a:p>
        </p:txBody>
      </p:sp>
      <p:sp>
        <p:nvSpPr>
          <p:cNvPr id="132" name="Google Shape;132;p19"/>
          <p:cNvSpPr txBox="1"/>
          <p:nvPr>
            <p:ph idx="1" type="body"/>
          </p:nvPr>
        </p:nvSpPr>
        <p:spPr>
          <a:xfrm>
            <a:off x="311700" y="1804150"/>
            <a:ext cx="8520600" cy="27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 gram matrix (Cp) captures the correlation between feature layers. Kp is normalization factor(1/CpHpWp). Intuitively, it is there to capture style and textures in image.</a:t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407925" y="1121775"/>
            <a:ext cx="6303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Style Loss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4" name="Google Shape;134;p19" title="Screenshot 2025-04-23 at 6.53.3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550" y="2267850"/>
            <a:ext cx="5539601" cy="5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 title="Screenshot 2025-04-23 at 6.53.2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825" y="1611125"/>
            <a:ext cx="5751625" cy="5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Loss Functions</a:t>
            </a:r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311700" y="1804150"/>
            <a:ext cx="8520600" cy="27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This is to </a:t>
            </a:r>
            <a:r>
              <a:rPr lang="en-GB"/>
              <a:t>ensure</a:t>
            </a:r>
            <a:r>
              <a:rPr lang="en-GB"/>
              <a:t> smoothness. Kind of like L1 prior.</a:t>
            </a:r>
            <a:endParaRPr/>
          </a:p>
        </p:txBody>
      </p:sp>
      <p:sp>
        <p:nvSpPr>
          <p:cNvPr id="142" name="Google Shape;142;p20"/>
          <p:cNvSpPr txBox="1"/>
          <p:nvPr/>
        </p:nvSpPr>
        <p:spPr>
          <a:xfrm>
            <a:off x="407925" y="1121775"/>
            <a:ext cx="63036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Total Variation Loss (TV loss)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3" name="Google Shape;143;p20" title="Screenshot 2025-04-23 at 7.03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000" y="1727375"/>
            <a:ext cx="7841200" cy="9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Total Loss</a:t>
            </a:r>
            <a:endParaRPr/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As mentioned in the paper, the optimal combination of these losses found my hyperparameter tuning over validation set is</a:t>
            </a:r>
            <a:endParaRPr/>
          </a:p>
        </p:txBody>
      </p:sp>
      <p:pic>
        <p:nvPicPr>
          <p:cNvPr id="150" name="Google Shape;150;p21" title="Screenshot 2025-04-23 at 7.07.0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50" y="2487950"/>
            <a:ext cx="8973901" cy="71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Network Architecture</a:t>
            </a:r>
            <a:endParaRPr/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are using a U-Net like architecture consisting of encoder and decoder.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We replace all the convolution layers with the </a:t>
            </a:r>
            <a:r>
              <a:rPr b="1" lang="en-GB"/>
              <a:t>partial convolution layers</a:t>
            </a:r>
            <a:r>
              <a:rPr lang="en-GB"/>
              <a:t> as discussed before.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Training</a:t>
            </a:r>
            <a:endParaRPr/>
          </a:p>
        </p:txBody>
      </p:sp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used the </a:t>
            </a:r>
            <a:r>
              <a:rPr b="1" lang="en-GB"/>
              <a:t>Adam optimizer</a:t>
            </a:r>
            <a:r>
              <a:rPr lang="en-GB"/>
              <a:t>, (which has momentum-based gradient descent) </a:t>
            </a:r>
            <a:r>
              <a:rPr lang="en-GB"/>
              <a:t>and hyperparameters as mentioned in the paper.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We trained our model CelebA dataset with 256*256 images, and masks were randomly generated. Masks were irregular shapes comprising of ellipses, lines, rectangles etc.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68" name="Google Shape;168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24" title="WhatsApp Image 2025-04-23 at 18.56.25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92925"/>
            <a:ext cx="8070500" cy="25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Results: with various loss experiments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5" title="Screenshot 2025-04-23 at 11.10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575" y="1327250"/>
            <a:ext cx="8749302" cy="224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Results</a:t>
            </a:r>
            <a:endParaRPr/>
          </a:p>
        </p:txBody>
      </p:sp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6" title="WhatsApp Image 2025-04-23 at 19.18.36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92875"/>
            <a:ext cx="8520600" cy="240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Another application: Super Resolution</a:t>
            </a:r>
            <a:endParaRPr/>
          </a:p>
        </p:txBody>
      </p:sp>
      <p:sp>
        <p:nvSpPr>
          <p:cNvPr id="189" name="Google Shape;189;p2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could use image inpainting to increase image resolution. Given a 128*128 image, put a mask at alternate pixels making in 256*256, and try to inpaint these masked pixels.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We </a:t>
            </a:r>
            <a:r>
              <a:rPr lang="en-GB"/>
              <a:t>train it on 256*256 images with single mask consisting of alternate pixels.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 results are very motivating to explore inpainting as a method in super-resolution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Super-resolution results</a:t>
            </a:r>
            <a:endParaRPr/>
          </a:p>
        </p:txBody>
      </p:sp>
      <p:sp>
        <p:nvSpPr>
          <p:cNvPr id="195" name="Google Shape;195;p2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8" title="WhatsApp Image 2025-04-23 at 19.09.0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512" y="1120800"/>
            <a:ext cx="8664977" cy="235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Applications in medical imaging</a:t>
            </a:r>
            <a:endParaRPr/>
          </a:p>
        </p:txBody>
      </p:sp>
      <p:sp>
        <p:nvSpPr>
          <p:cNvPr id="202" name="Google Shape;202;p2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/>
              <a:t>Can be used to remove artifacts from MRI and CT scans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/>
              <a:t>As an image editing tool for medical </a:t>
            </a:r>
            <a:r>
              <a:rPr lang="en-GB"/>
              <a:t>practitioners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Link to dataset</a:t>
            </a:r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https://www.kaggle.com/datasets/gauravkum13/celeba2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CelebA dataset modified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Reference</a:t>
            </a:r>
            <a:endParaRPr/>
          </a:p>
        </p:txBody>
      </p:sp>
      <p:sp>
        <p:nvSpPr>
          <p:cNvPr id="214" name="Google Shape;214;p3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350">
                <a:solidFill>
                  <a:srgbClr val="494E52"/>
                </a:solidFill>
                <a:highlight>
                  <a:srgbClr val="FFFFFF"/>
                </a:highlight>
              </a:rPr>
              <a:t>Guilin Liu, Fitsum A. Reda, Kevin J. Shih, Ting-Chun Wang, Andrew Tao, Bryan Catanzaro, </a:t>
            </a:r>
            <a:r>
              <a:rPr b="1" lang="en-GB" sz="1350">
                <a:solidFill>
                  <a:srgbClr val="494E52"/>
                </a:solidFill>
                <a:highlight>
                  <a:srgbClr val="FFFFFF"/>
                </a:highlight>
              </a:rPr>
              <a:t>Image Inpainting for Irregular Holes Using Partial Convolutions</a:t>
            </a:r>
            <a:r>
              <a:rPr lang="en-GB" sz="1350">
                <a:solidFill>
                  <a:srgbClr val="494E52"/>
                </a:solidFill>
                <a:highlight>
                  <a:srgbClr val="FFFFFF"/>
                </a:highlight>
              </a:rPr>
              <a:t>, Proceedings of the European Conference on Computer Vision (ECCV) 2018. </a:t>
            </a:r>
            <a:r>
              <a:rPr lang="en-GB" sz="1350">
                <a:solidFill>
                  <a:srgbClr val="52ADC8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https://arxiv.org/abs/1804.07723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